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7" d="100"/>
          <a:sy n="77" d="100"/>
        </p:scale>
        <p:origin x="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55D54-DCC7-4AEA-9A0D-ADE65BFAD0F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2908C0-6246-437D-B523-3F58C28E7F0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D3541C-E0F6-44E4-AF8B-BC12BB13288B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A035B-E45D-4D8B-A5AD-8F56B5D9C378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7773CF-7DC8-448F-9E67-5D74719CA64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hyperlink" Target="https://hclo365-my.sharepoint.com/:b:/g/personal/ranjan_sh_hcltech_com/EVgOK8W3DGZIqpW52amdi_0Bi5d-Zgw4Z0KlEjs6SwNB8Q?e=2WJ13R" TargetMode="External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936" y="-13522"/>
            <a:ext cx="11236813" cy="562960"/>
          </a:xfrm>
        </p:spPr>
        <p:txBody>
          <a:bodyPr>
            <a:normAutofit/>
          </a:bodyPr>
          <a:lstStyle/>
          <a:p>
            <a:r>
              <a:rPr lang="en-IN" sz="2000" b="1" dirty="0">
                <a:solidFill>
                  <a:schemeClr val="accent1"/>
                </a:solidFill>
              </a:rPr>
              <a:t>Technical Specialist </a:t>
            </a:r>
            <a:endParaRPr lang="en-IN" sz="2000" b="1" dirty="0">
              <a:solidFill>
                <a:schemeClr val="accent1"/>
              </a:solidFill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530569" y="5116638"/>
            <a:ext cx="1737851" cy="1005839"/>
            <a:chOff x="3034491" y="5134428"/>
            <a:chExt cx="1737851" cy="914400"/>
          </a:xfrm>
        </p:grpSpPr>
        <p:cxnSp>
          <p:nvCxnSpPr>
            <p:cNvPr id="41" name="Straight Connector 40"/>
            <p:cNvCxnSpPr/>
            <p:nvPr/>
          </p:nvCxnSpPr>
          <p:spPr bwMode="auto">
            <a:xfrm rot="5400000">
              <a:off x="4211967" y="5590834"/>
              <a:ext cx="914400" cy="1588"/>
            </a:xfrm>
            <a:prstGeom prst="line">
              <a:avLst/>
            </a:prstGeom>
            <a:ln w="28575">
              <a:solidFill>
                <a:srgbClr val="FF9675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2" name="Rectangle 41"/>
            <p:cNvSpPr/>
            <p:nvPr/>
          </p:nvSpPr>
          <p:spPr>
            <a:xfrm>
              <a:off x="3428191" y="5134601"/>
              <a:ext cx="1344151" cy="6155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9675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HIGHLIGHTS </a:t>
              </a:r>
              <a:endParaRPr kumimoji="0" lang="da-DK" sz="1700" b="1" i="0" u="none" strike="noStrike" kern="1200" cap="none" spc="0" normalizeH="0" baseline="0" noProof="0" dirty="0">
                <a:ln>
                  <a:noFill/>
                </a:ln>
                <a:solidFill>
                  <a:srgbClr val="FF9675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9675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&amp; SKILLS</a:t>
              </a:r>
              <a:endPara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9675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3" name="Oval 5" descr="Skill"/>
            <p:cNvSpPr>
              <a:spLocks noChangeArrowheads="1"/>
            </p:cNvSpPr>
            <p:nvPr/>
          </p:nvSpPr>
          <p:spPr bwMode="auto">
            <a:xfrm>
              <a:off x="3034491" y="5214244"/>
              <a:ext cx="393700" cy="393700"/>
            </a:xfrm>
            <a:prstGeom prst="ellipse">
              <a:avLst/>
            </a:prstGeom>
            <a:blipFill dpi="0" rotWithShape="0">
              <a:blip r:embed="rId1"/>
              <a:srcRect/>
              <a:stretch>
                <a:fillRect/>
              </a:stretch>
            </a:blipFill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2490488" y="2902095"/>
            <a:ext cx="1682876" cy="1130769"/>
            <a:chOff x="2985497" y="3496439"/>
            <a:chExt cx="1682876" cy="1018021"/>
          </a:xfrm>
        </p:grpSpPr>
        <p:cxnSp>
          <p:nvCxnSpPr>
            <p:cNvPr id="34" name="Straight Connector 33"/>
            <p:cNvCxnSpPr/>
            <p:nvPr/>
          </p:nvCxnSpPr>
          <p:spPr bwMode="auto">
            <a:xfrm>
              <a:off x="4666207" y="3496439"/>
              <a:ext cx="2166" cy="1018021"/>
            </a:xfrm>
            <a:prstGeom prst="line">
              <a:avLst/>
            </a:prstGeom>
            <a:ln w="28575">
              <a:solidFill>
                <a:srgbClr val="336699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39" name="Rectangle 38"/>
            <p:cNvSpPr/>
            <p:nvPr/>
          </p:nvSpPr>
          <p:spPr>
            <a:xfrm>
              <a:off x="3351001" y="3572962"/>
              <a:ext cx="1284326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2E5C8A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EXPERIENCE</a:t>
              </a:r>
              <a:endPara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E5C8A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4" name="Oval 7" descr="Skill"/>
            <p:cNvSpPr>
              <a:spLocks noChangeArrowheads="1"/>
            </p:cNvSpPr>
            <p:nvPr/>
          </p:nvSpPr>
          <p:spPr bwMode="auto">
            <a:xfrm>
              <a:off x="2985497" y="3572962"/>
              <a:ext cx="393192" cy="393192"/>
            </a:xfrm>
            <a:prstGeom prst="ellipse">
              <a:avLst/>
            </a:prstGeom>
            <a:blipFill dpi="0" rotWithShape="0">
              <a:blip r:embed="rId2"/>
              <a:srcRect/>
              <a:stretch>
                <a:fillRect/>
              </a:stretch>
            </a:blipFill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2519981" y="585247"/>
            <a:ext cx="1680002" cy="1630595"/>
            <a:chOff x="3002885" y="1447149"/>
            <a:chExt cx="1680002" cy="1415442"/>
          </a:xfrm>
        </p:grpSpPr>
        <p:cxnSp>
          <p:nvCxnSpPr>
            <p:cNvPr id="33" name="Straight Connector 32"/>
            <p:cNvCxnSpPr/>
            <p:nvPr/>
          </p:nvCxnSpPr>
          <p:spPr bwMode="auto">
            <a:xfrm>
              <a:off x="4669961" y="1539548"/>
              <a:ext cx="12926" cy="1323043"/>
            </a:xfrm>
            <a:prstGeom prst="line">
              <a:avLst/>
            </a:prstGeom>
            <a:ln w="28575">
              <a:solidFill>
                <a:srgbClr val="FFC000"/>
              </a:solidFill>
              <a:headEnd type="none" w="med" len="med"/>
              <a:tailEnd type="non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0" name="Rectangle 39"/>
            <p:cNvSpPr/>
            <p:nvPr/>
          </p:nvSpPr>
          <p:spPr>
            <a:xfrm>
              <a:off x="3388421" y="1447149"/>
              <a:ext cx="924740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da-DK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PROFILE</a:t>
              </a:r>
              <a:endPara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45" name="Oval 8" descr="Profile 1"/>
            <p:cNvSpPr>
              <a:spLocks noChangeArrowheads="1"/>
            </p:cNvSpPr>
            <p:nvPr/>
          </p:nvSpPr>
          <p:spPr bwMode="auto">
            <a:xfrm>
              <a:off x="3002885" y="1465286"/>
              <a:ext cx="393192" cy="393192"/>
            </a:xfrm>
            <a:prstGeom prst="ellipse">
              <a:avLst/>
            </a:prstGeom>
            <a:blipFill dpi="0" rotWithShape="0">
              <a:blip r:embed="rId3"/>
              <a:srcRect/>
              <a:stretch>
                <a:fillRect/>
              </a:stretch>
            </a:blipFill>
            <a:ln w="9525">
              <a:noFill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</p:grpSp>
      <p:sp>
        <p:nvSpPr>
          <p:cNvPr id="46" name="Rectangle 9"/>
          <p:cNvSpPr>
            <a:spLocks noChangeArrowheads="1"/>
          </p:cNvSpPr>
          <p:nvPr/>
        </p:nvSpPr>
        <p:spPr bwMode="auto">
          <a:xfrm>
            <a:off x="4173364" y="495226"/>
            <a:ext cx="7822418" cy="230695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Over 1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4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+ years of experience 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 IT in Development for multiple mobile and web platform using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Python, Node.js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with frameworks such as 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Pandas, PyTest, Flask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NextJS, Typescript, 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Ionic, React Native, Cordova, Electron JS, etc.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Experience in develop &amp; support 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ETL services,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mobile, desktop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web </a:t>
            </a:r>
            <a:r>
              <a:rPr lang="en-IN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and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sym typeface="+mn-ea"/>
              </a:rPr>
              <a:t>browser apps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Achievement awards for innovation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project and technology timeline at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4"/>
              </a:rPr>
              <a:t>link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(access for </a:t>
            </a:r>
            <a:r>
              <a:rPr lang="en-US" sz="1200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HCLTech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employees only)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Excellent Knowledge in innovating solution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to increase productivity of product for end user and development team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Hands on experiences in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multi cloud development using </a:t>
            </a:r>
            <a:r>
              <a:rPr lang="en-US" sz="1200" b="1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Redhat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200" b="1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Openshift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platform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with docker and Kubernetes </a:t>
            </a:r>
            <a:r>
              <a:rPr lang="en-US" sz="1200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yaml</a:t>
            </a:r>
            <a:endParaRPr lang="en-US" sz="1200" dirty="0"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atabases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Oracle, 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Postgres,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Mongo DB, Redis, MYSQL, DynamoDB, Cosmos DB and Indexed DB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 Experience in developing complete 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ETL and 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microservice architecture using </a:t>
            </a:r>
            <a:r>
              <a:rPr 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AWS Cloud Formation, Step functions, AWS Glue, AWS Athena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and serverless Lambda function to maintain application performance by dividing less used features to microservices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and ETL processes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xcellent matuarity 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 understanding application requirements, developing engineering strategies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and provide close support to architecture role responsibilities with </a:t>
            </a:r>
            <a:r>
              <a:rPr lang="en-IN" altLang="en-US" sz="1200" b="1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24*7 ownership attitude</a:t>
            </a:r>
            <a:r>
              <a:rPr lang="en-IN" alt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toward achieving delivering timelines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211646" y="4873648"/>
            <a:ext cx="7822418" cy="19380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CCNA and MCSC certification training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ASET Delhi, 2010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Hardware and Networking Diploma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ASET Delhi, 2010</a:t>
            </a:r>
            <a:r>
              <a:rPr lang="en-IN" alt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N" alt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RDBMS and IT Fundamentals</a:t>
            </a:r>
            <a:r>
              <a:rPr lang="en-IN" alt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from NIIT Delhi, 2010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Bachelor of Computer Applications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Delhi Rajghat, Indira Gandhi National Open University (I.G.N.O.U) 2015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IN" alt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Master in Business Administration,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Delhi Rajghat, Indira Gandhi National Open University (I.G.N.O.U) 20</a:t>
            </a:r>
            <a:r>
              <a:rPr lang="en-IN" alt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2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5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Certifications: Core PMI 2017, Agile Foundation 2017, Telecom Basics 2020, CMMI 2.0 2020, HIPPA Security 2020, Performance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management 2022, Business Aligned Framework (BAF) Overview 2023, Six Sigma and Lean 2023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Strong experience in End to End Application with </a:t>
            </a:r>
            <a:r>
              <a:rPr lang="en-US" sz="12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and Mobile application performance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skills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Exposure to Python, Node.js and PHP as backend languages on AWS cloud</a:t>
            </a:r>
            <a:r>
              <a:rPr lang="en-IN" alt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shared and VPS hosting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infrastructure.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Expertise in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altLang="en-US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Engineering Technologies, </a:t>
            </a: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Tele Communication, Ecommerce, Travel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technical support and customer support experience for applications across the globe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175879" y="2780565"/>
            <a:ext cx="7822418" cy="21228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N" alt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Kaiser Permanente, NextJS and Typescript </a:t>
            </a:r>
            <a:r>
              <a:rPr lang="en-IN" alt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</a:t>
            </a:r>
            <a:r>
              <a:rPr lang="en-IN" alt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ata enrichment process</a:t>
            </a:r>
            <a:r>
              <a:rPr lang="en-IN" alt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2025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Eon Home, Python 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GENAI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development, 2024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Telstra Python (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Pandas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) 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Serverless Data analytics Microservice development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2023-2024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Cisco Project Timeline Management, </a:t>
            </a:r>
            <a:r>
              <a:rPr lang="en-IN" alt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Redhat Openshift multi cloud management, Python and Node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.js, 2022 – 2023 [HCL]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Mitel </a:t>
            </a:r>
            <a:r>
              <a:rPr lang="en-US" sz="12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Cloudlink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SDK, Node.js, 2021-2022 [HCL]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PGI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Globalmeet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N" alt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React JS,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Browser Apps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Chrome/Firefox, 2021 [HCL]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Mitel Premium Attendant, NextGen and </a:t>
            </a:r>
            <a:r>
              <a:rPr lang="en-US" sz="12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MiShare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application, Electron JS, Node.js, Angular, </a:t>
            </a:r>
            <a:r>
              <a:rPr lang="en-US" sz="1200" b="1" dirty="0" err="1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</a:t>
            </a:r>
            <a:r>
              <a:rPr lang="en-US" sz="1200" b="1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ullstack</a:t>
            </a:r>
            <a:r>
              <a:rPr lang="en-US" sz="1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application and Desktop applications 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Mac OS/Windows, Technical Lead, 2016-2021 [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HCL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]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Tokbox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Hybrid Application development for iOS/Android 8/Blackberry, 2016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[</a:t>
            </a:r>
            <a:r>
              <a:rPr lang="en-US" sz="12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HCL</a:t>
            </a:r>
            <a:r>
              <a:rPr lang="en-US" sz="12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]</a:t>
            </a:r>
            <a:endParaRPr lang="en-US" sz="12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Expedia, Angular IONIC and Cordova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Hybrid Application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Development iOS/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Androd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2015-2016, [Refine Interactive]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marR="0" indent="-17145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PHP Magento/Joomla/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Wordpress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/Angular/Node.js/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Jquery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Mobile development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domestic India Clients, 2011-2015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55520" y="576046"/>
            <a:ext cx="2319602" cy="5970420"/>
            <a:chOff x="96285" y="1223134"/>
            <a:chExt cx="2319602" cy="4924230"/>
          </a:xfrm>
        </p:grpSpPr>
        <p:sp>
          <p:nvSpPr>
            <p:cNvPr id="26" name="Rectangle 25"/>
            <p:cNvSpPr/>
            <p:nvPr/>
          </p:nvSpPr>
          <p:spPr bwMode="auto">
            <a:xfrm>
              <a:off x="202574" y="1223134"/>
              <a:ext cx="2177095" cy="4924230"/>
            </a:xfrm>
            <a:prstGeom prst="rect">
              <a:avLst/>
            </a:prstGeom>
            <a:solidFill>
              <a:srgbClr val="2E5C8A"/>
            </a:solidFill>
            <a:ln w="3175" cap="flat" cmpd="sng" algn="ctr">
              <a:noFill/>
              <a:prstDash val="solid"/>
              <a:miter lim="800000"/>
              <a:headEnd type="none" w="sm" len="sm"/>
              <a:tailEnd type="triangle" w="med" len="med"/>
            </a:ln>
            <a:effectLst/>
          </p:spPr>
          <p:txBody>
            <a:bodyPr vert="horz" wrap="none" lIns="91440" tIns="45720" rIns="91440" bIns="45720" numCol="1" rtlCol="0" anchor="t" anchorCtr="0" compatLnSpc="1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96285" y="2830145"/>
              <a:ext cx="2319602" cy="1043605"/>
              <a:chOff x="96285" y="2830145"/>
              <a:chExt cx="2319602" cy="1043605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96285" y="2830145"/>
                <a:ext cx="2319602" cy="2792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sz="1600" b="1" dirty="0">
                    <a:solidFill>
                      <a:srgbClr val="FFFFFF"/>
                    </a:solidFill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Ranjan Sharma </a:t>
                </a:r>
                <a:endParaRPr lang="en-US" sz="1600" b="1" dirty="0">
                  <a:solidFill>
                    <a:srgbClr val="FFFFFF"/>
                  </a:solidFill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48" name="Straight Connector 47"/>
              <p:cNvCxnSpPr/>
              <p:nvPr/>
            </p:nvCxnSpPr>
            <p:spPr bwMode="auto">
              <a:xfrm>
                <a:off x="423367" y="3872162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bg1"/>
                </a:solidFill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</p:cxnSp>
        </p:grpSp>
        <p:cxnSp>
          <p:nvCxnSpPr>
            <p:cNvPr id="53" name="Straight Connector 52"/>
            <p:cNvCxnSpPr/>
            <p:nvPr/>
          </p:nvCxnSpPr>
          <p:spPr bwMode="auto">
            <a:xfrm>
              <a:off x="423367" y="4729388"/>
              <a:ext cx="1735138" cy="1588"/>
            </a:xfrm>
            <a:prstGeom prst="line">
              <a:avLst/>
            </a:prstGeom>
            <a:solidFill>
              <a:schemeClr val="accent1"/>
            </a:solidFill>
            <a:ln w="3175" cap="flat" cmpd="sng" algn="ctr">
              <a:solidFill>
                <a:schemeClr val="bg1"/>
              </a:solidFill>
              <a:prstDash val="sysDot"/>
              <a:miter lim="800000"/>
              <a:headEnd type="none" w="med" len="med"/>
              <a:tailEnd type="none" w="med" len="med"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</p:spPr>
        </p:cxnSp>
        <p:grpSp>
          <p:nvGrpSpPr>
            <p:cNvPr id="8" name="Group 7"/>
            <p:cNvGrpSpPr/>
            <p:nvPr/>
          </p:nvGrpSpPr>
          <p:grpSpPr>
            <a:xfrm>
              <a:off x="247359" y="3806682"/>
              <a:ext cx="2079534" cy="586125"/>
              <a:chOff x="247360" y="4527124"/>
              <a:chExt cx="2079534" cy="586125"/>
            </a:xfrm>
          </p:grpSpPr>
          <p:cxnSp>
            <p:nvCxnSpPr>
              <p:cNvPr id="52" name="Straight Connector 51"/>
              <p:cNvCxnSpPr/>
              <p:nvPr/>
            </p:nvCxnSpPr>
            <p:spPr bwMode="auto">
              <a:xfrm>
                <a:off x="480515" y="4527124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  <p:sp>
            <p:nvSpPr>
              <p:cNvPr id="27" name="Rectangle 26"/>
              <p:cNvSpPr/>
              <p:nvPr/>
            </p:nvSpPr>
            <p:spPr>
              <a:xfrm>
                <a:off x="247360" y="4732481"/>
                <a:ext cx="2079534" cy="3807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Proposed Role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sz="1200" b="1">
                    <a:solidFill>
                      <a:srgbClr val="FFD44B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Technical Specialist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D44B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1" name="Group 30"/>
            <p:cNvGrpSpPr/>
            <p:nvPr/>
          </p:nvGrpSpPr>
          <p:grpSpPr>
            <a:xfrm>
              <a:off x="247058" y="4837924"/>
              <a:ext cx="2168806" cy="706671"/>
              <a:chOff x="247059" y="5131819"/>
              <a:chExt cx="2168806" cy="706671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247059" y="5131819"/>
                <a:ext cx="2168806" cy="5330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Times New Roman" panose="02020603050405020304" pitchFamily="18" charset="0"/>
                    <a:cs typeface="Calibri" panose="020F0502020204030204" pitchFamily="34" charset="0"/>
                  </a:rPr>
                  <a:t>Domain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sz="1200" b="1" dirty="0">
                    <a:solidFill>
                      <a:srgbClr val="FFD44B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Software Engineering Technology</a:t>
                </a: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D44B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cxnSp>
            <p:nvCxnSpPr>
              <p:cNvPr id="35" name="Straight Connector 34"/>
              <p:cNvCxnSpPr/>
              <p:nvPr/>
            </p:nvCxnSpPr>
            <p:spPr bwMode="auto">
              <a:xfrm>
                <a:off x="423368" y="5836902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</p:grpSp>
        <p:grpSp>
          <p:nvGrpSpPr>
            <p:cNvPr id="36" name="Group 35"/>
            <p:cNvGrpSpPr/>
            <p:nvPr/>
          </p:nvGrpSpPr>
          <p:grpSpPr>
            <a:xfrm>
              <a:off x="251169" y="5612520"/>
              <a:ext cx="2079534" cy="276999"/>
              <a:chOff x="251170" y="5349278"/>
              <a:chExt cx="2079534" cy="276999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51170" y="5349278"/>
                <a:ext cx="2079534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8" name="Straight Connector 37"/>
              <p:cNvCxnSpPr/>
              <p:nvPr/>
            </p:nvCxnSpPr>
            <p:spPr bwMode="auto">
              <a:xfrm>
                <a:off x="423368" y="5552710"/>
                <a:ext cx="1735138" cy="1588"/>
              </a:xfrm>
              <a:prstGeom prst="line">
                <a:avLst/>
              </a:prstGeom>
              <a:solidFill>
                <a:schemeClr val="accent1"/>
              </a:solidFill>
              <a:ln w="3175" cap="flat" cmpd="sng" algn="ctr">
                <a:solidFill>
                  <a:schemeClr val="bg1"/>
                </a:solidFill>
                <a:prstDash val="sysDot"/>
                <a:miter lim="800000"/>
                <a:headEnd type="none" w="med" len="med"/>
                <a:tailEnd type="none" w="med" len="med"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</p:spPr>
          </p:cxnSp>
        </p:grpSp>
      </p:grpSp>
      <p:sp>
        <p:nvSpPr>
          <p:cNvPr id="50" name="TextBox 49"/>
          <p:cNvSpPr txBox="1"/>
          <p:nvPr/>
        </p:nvSpPr>
        <p:spPr>
          <a:xfrm>
            <a:off x="265035" y="2926434"/>
            <a:ext cx="190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Location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sz="1600" b="1" dirty="0">
                <a:solidFill>
                  <a:srgbClr val="FFD44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Noida,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D4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India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D4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10404" y="496502"/>
            <a:ext cx="1149126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ass-photo-12-17-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185" y="895985"/>
            <a:ext cx="1397000" cy="1638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3249</Words>
  <Application>WPS Slides</Application>
  <PresentationFormat>Widescreen</PresentationFormat>
  <Paragraphs>49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Calibri</vt:lpstr>
      <vt:lpstr>Times New Roman</vt:lpstr>
      <vt:lpstr>Calibri Light</vt:lpstr>
      <vt:lpstr>Microsoft YaHei</vt:lpstr>
      <vt:lpstr>Arial Unicode MS</vt:lpstr>
      <vt:lpstr>Office Theme</vt:lpstr>
      <vt:lpstr>Technical Specialist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Dheeraj Verma</dc:creator>
  <cp:lastModifiedBy>5</cp:lastModifiedBy>
  <cp:revision>58</cp:revision>
  <dcterms:created xsi:type="dcterms:W3CDTF">2021-11-30T02:29:00Z</dcterms:created>
  <dcterms:modified xsi:type="dcterms:W3CDTF">2025-04-10T11:32:58Z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0372252d-5665-4ea6-8d17-aabf7bbd02ab</vt:lpwstr>
  </property>
  <property fmtid="{D5CDD505-2E9C-101B-9397-08002B2CF9AE}" pid="3" name="HCLClassification">
    <vt:lpwstr>HCL_Cla5s_Publ1c</vt:lpwstr>
  </property>
  <property fmtid="{D5CDD505-2E9C-101B-9397-08002B2CF9AE}" pid="4" name="HCLClassD6">
    <vt:lpwstr>False</vt:lpwstr>
  </property>
  <property fmtid="{D5CDD505-2E9C-101B-9397-08002B2CF9AE}" pid="5" name="ICV">
    <vt:lpwstr>B1E9FE1F67A54A8CB1CF98524B03965E_12</vt:lpwstr>
  </property>
  <property fmtid="{D5CDD505-2E9C-101B-9397-08002B2CF9AE}" pid="6" name="KSOProductBuildVer">
    <vt:lpwstr>1033-12.2.0.20782</vt:lpwstr>
  </property>
</Properties>
</file>