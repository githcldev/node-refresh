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7" d="100"/>
          <a:sy n="77" d="100"/>
        </p:scale>
        <p:origin x="2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255D54-DCC7-4AEA-9A0D-ADE65BFAD0F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2908C0-6246-437D-B523-3F58C28E7F0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D3541C-E0F6-44E4-AF8B-BC12BB13288B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7" Type="http://schemas.openxmlformats.org/officeDocument/2006/relationships/slideLayout" Target="../slideLayouts/slideLayout2.xml"/><Relationship Id="rId6" Type="http://schemas.microsoft.com/office/2007/relationships/hdphoto" Target="../media/image5.wdp"/><Relationship Id="rId5" Type="http://schemas.openxmlformats.org/officeDocument/2006/relationships/image" Target="../media/image4.png"/><Relationship Id="rId4" Type="http://schemas.openxmlformats.org/officeDocument/2006/relationships/hyperlink" Target="https://hclo365-my.sharepoint.com/:b:/g/personal/ranjan_sh_hcltech_com/EVgOK8W3DGZIqpW52amdi_0Bi5d-Zgw4Z0KlEjs6SwNB8Q?e=2WJ13R" TargetMode="External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9936" y="-13522"/>
            <a:ext cx="11236813" cy="562960"/>
          </a:xfrm>
        </p:spPr>
        <p:txBody>
          <a:bodyPr>
            <a:normAutofit/>
          </a:bodyPr>
          <a:lstStyle/>
          <a:p>
            <a:r>
              <a:rPr lang="en-IN" sz="2000" b="1" dirty="0">
                <a:solidFill>
                  <a:schemeClr val="accent1"/>
                </a:solidFill>
              </a:rPr>
              <a:t>Technical Specialist </a:t>
            </a:r>
            <a:endParaRPr lang="en-IN" sz="2000" b="1" dirty="0">
              <a:solidFill>
                <a:schemeClr val="accent1"/>
              </a:solidFill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530569" y="4925503"/>
            <a:ext cx="1737851" cy="1005839"/>
            <a:chOff x="3034491" y="5134428"/>
            <a:chExt cx="1737851" cy="914400"/>
          </a:xfrm>
        </p:grpSpPr>
        <p:cxnSp>
          <p:nvCxnSpPr>
            <p:cNvPr id="41" name="Straight Connector 40"/>
            <p:cNvCxnSpPr/>
            <p:nvPr/>
          </p:nvCxnSpPr>
          <p:spPr bwMode="auto">
            <a:xfrm rot="5400000">
              <a:off x="4211967" y="5590834"/>
              <a:ext cx="914400" cy="1588"/>
            </a:xfrm>
            <a:prstGeom prst="line">
              <a:avLst/>
            </a:prstGeom>
            <a:ln w="28575">
              <a:solidFill>
                <a:srgbClr val="FF9675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2" name="Rectangle 41"/>
            <p:cNvSpPr/>
            <p:nvPr/>
          </p:nvSpPr>
          <p:spPr>
            <a:xfrm>
              <a:off x="3428191" y="5134601"/>
              <a:ext cx="1344151" cy="6155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da-DK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FF9675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HIGHLIGHTS </a:t>
              </a:r>
              <a:endParaRPr kumimoji="0" lang="da-DK" sz="1700" b="1" i="0" u="none" strike="noStrike" kern="1200" cap="none" spc="0" normalizeH="0" baseline="0" noProof="0" dirty="0">
                <a:ln>
                  <a:noFill/>
                </a:ln>
                <a:solidFill>
                  <a:srgbClr val="FF9675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da-DK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FF9675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&amp; SKILLS</a:t>
              </a:r>
              <a:endPara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9675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43" name="Oval 5" descr="Skill"/>
            <p:cNvSpPr>
              <a:spLocks noChangeArrowheads="1"/>
            </p:cNvSpPr>
            <p:nvPr/>
          </p:nvSpPr>
          <p:spPr bwMode="auto">
            <a:xfrm>
              <a:off x="3034491" y="5214244"/>
              <a:ext cx="393700" cy="393700"/>
            </a:xfrm>
            <a:prstGeom prst="ellipse">
              <a:avLst/>
            </a:prstGeom>
            <a:blipFill dpi="0" rotWithShape="0">
              <a:blip r:embed="rId1"/>
              <a:srcRect/>
              <a:stretch>
                <a:fillRect/>
              </a:stretch>
            </a:blipFill>
            <a:ln w="9525">
              <a:noFill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2490488" y="2782080"/>
            <a:ext cx="1682876" cy="1130769"/>
            <a:chOff x="2985497" y="3496439"/>
            <a:chExt cx="1682876" cy="1018021"/>
          </a:xfrm>
        </p:grpSpPr>
        <p:cxnSp>
          <p:nvCxnSpPr>
            <p:cNvPr id="34" name="Straight Connector 33"/>
            <p:cNvCxnSpPr/>
            <p:nvPr/>
          </p:nvCxnSpPr>
          <p:spPr bwMode="auto">
            <a:xfrm>
              <a:off x="4666207" y="3496439"/>
              <a:ext cx="2166" cy="1018021"/>
            </a:xfrm>
            <a:prstGeom prst="line">
              <a:avLst/>
            </a:prstGeom>
            <a:ln w="28575">
              <a:solidFill>
                <a:srgbClr val="336699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39" name="Rectangle 38"/>
            <p:cNvSpPr/>
            <p:nvPr/>
          </p:nvSpPr>
          <p:spPr>
            <a:xfrm>
              <a:off x="3351001" y="3572962"/>
              <a:ext cx="1284326" cy="3539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da-DK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2E5C8A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EXPERIENCE</a:t>
              </a:r>
              <a:endPara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E5C8A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44" name="Oval 7" descr="Skill"/>
            <p:cNvSpPr>
              <a:spLocks noChangeArrowheads="1"/>
            </p:cNvSpPr>
            <p:nvPr/>
          </p:nvSpPr>
          <p:spPr bwMode="auto">
            <a:xfrm>
              <a:off x="2985497" y="3572962"/>
              <a:ext cx="393192" cy="393192"/>
            </a:xfrm>
            <a:prstGeom prst="ellipse">
              <a:avLst/>
            </a:prstGeom>
            <a:blipFill dpi="0" rotWithShape="0">
              <a:blip r:embed="rId2"/>
              <a:srcRect/>
              <a:stretch>
                <a:fillRect/>
              </a:stretch>
            </a:blipFill>
            <a:ln w="9525">
              <a:noFill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2519981" y="585247"/>
            <a:ext cx="1680002" cy="1630595"/>
            <a:chOff x="3002885" y="1447149"/>
            <a:chExt cx="1680002" cy="1415442"/>
          </a:xfrm>
        </p:grpSpPr>
        <p:cxnSp>
          <p:nvCxnSpPr>
            <p:cNvPr id="33" name="Straight Connector 32"/>
            <p:cNvCxnSpPr/>
            <p:nvPr/>
          </p:nvCxnSpPr>
          <p:spPr bwMode="auto">
            <a:xfrm>
              <a:off x="4669961" y="1539548"/>
              <a:ext cx="12926" cy="1323043"/>
            </a:xfrm>
            <a:prstGeom prst="line">
              <a:avLst/>
            </a:prstGeom>
            <a:ln w="28575">
              <a:solidFill>
                <a:srgbClr val="FFC000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0" name="Rectangle 39"/>
            <p:cNvSpPr/>
            <p:nvPr/>
          </p:nvSpPr>
          <p:spPr>
            <a:xfrm>
              <a:off x="3388421" y="1447149"/>
              <a:ext cx="924740" cy="3539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da-DK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PROFILE</a:t>
              </a:r>
              <a:endPara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45" name="Oval 8" descr="Profile 1"/>
            <p:cNvSpPr>
              <a:spLocks noChangeArrowheads="1"/>
            </p:cNvSpPr>
            <p:nvPr/>
          </p:nvSpPr>
          <p:spPr bwMode="auto">
            <a:xfrm>
              <a:off x="3002885" y="1465286"/>
              <a:ext cx="393192" cy="393192"/>
            </a:xfrm>
            <a:prstGeom prst="ellipse">
              <a:avLst/>
            </a:prstGeom>
            <a:blipFill dpi="0" rotWithShape="0">
              <a:blip r:embed="rId3"/>
              <a:srcRect/>
              <a:stretch>
                <a:fillRect/>
              </a:stretch>
            </a:blipFill>
            <a:ln w="9525">
              <a:noFill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</p:grpSp>
      <p:sp>
        <p:nvSpPr>
          <p:cNvPr id="46" name="Rectangle 9"/>
          <p:cNvSpPr>
            <a:spLocks noChangeArrowheads="1"/>
          </p:cNvSpPr>
          <p:nvPr/>
        </p:nvSpPr>
        <p:spPr bwMode="auto">
          <a:xfrm>
            <a:off x="4173364" y="498401"/>
            <a:ext cx="7822418" cy="212280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Over 1</a:t>
            </a:r>
            <a:r>
              <a:rPr lang="en-IN" alt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4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+ years of experience 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 IT in Development for multiple mobile and web platform using Python, Node.js, PHP with web frameworks such as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Angular, React, Ionic, React Native, Bootstrap, Cordova, Electron JS, etc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endParaRPr lang="en-US" sz="1200" dirty="0"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Experience in develop &amp; support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browser apps , mobile, desktop and web Applications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endParaRPr lang="en-US" sz="1200" dirty="0"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Achievement awards for innovation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project and technology timeline at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4"/>
              </a:rPr>
              <a:t>link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(access for </a:t>
            </a:r>
            <a:r>
              <a:rPr lang="en-US" sz="1200" dirty="0" err="1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HCLTech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employees only)</a:t>
            </a:r>
            <a:endParaRPr lang="en-US" sz="1200" dirty="0"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Excellent Knowledge in innovating solution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to increase productivity of product for end user and development team</a:t>
            </a:r>
            <a:endParaRPr lang="en-US" sz="1200" dirty="0"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Hands on experiences in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multi cloud development using </a:t>
            </a:r>
            <a:r>
              <a:rPr lang="en-US" sz="1200" b="1" dirty="0" err="1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Redhat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US" sz="1200" b="1" dirty="0" err="1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Openshift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platform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with docker and Kubernetes </a:t>
            </a:r>
            <a:r>
              <a:rPr lang="en-US" sz="1200" dirty="0" err="1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yaml</a:t>
            </a:r>
            <a:endParaRPr lang="en-US" sz="1200" dirty="0"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Hands on experiences for databases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Oracle, Mongo DB, Redis, MYSQL, DynamoDB, Cosmos DB and Indexed DB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 Experience in developing complete microservice architecture using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AWS Cloud Formation, Step functions, AWS Glue, AWS Athena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and serverless Lambda function to maintain application performance by dividing less used features to microservices.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Experience in understanding application requirements, developing engineering strategies.</a:t>
            </a:r>
            <a:endParaRPr lang="en-US" sz="1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211646" y="4811418"/>
            <a:ext cx="7822418" cy="1753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CCNA and MCSC certification training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ASET Delhi, 2010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Hardware and Networking Diploma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ASET Delhi, 2010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Bachelor of Computer Applications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Delhi Rajghat, Indira Gandhi National Open University (I.G.N.O.U) 2015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Certifications: Core PMI 2017, Agile Foundation 2017, Telecom Basics 2020, CMMI 2.0 2020, HIPPA Security 2020, Performance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management 2022, Business Aligned Framework (BAF) Overview 2023, Six Sigma and Lean 2023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Strong experience in End to End Application with </a:t>
            </a:r>
            <a:r>
              <a:rPr lang="en-US" sz="12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and Mobile application performance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skills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Exposure to Python, Node.js and PHP as backend languages on AWS cloud</a:t>
            </a:r>
            <a:r>
              <a:rPr lang="en-IN" alt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shared and VPS hosting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infrastructure.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Expertise in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altLang="en-US" sz="12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Engineering Technologies,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Tele Communication, Ecommerce, Travel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Team technical support and customer support experience for applications across the globe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175879" y="2642770"/>
            <a:ext cx="7822418" cy="212280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Eon Home, Python Node.js </a:t>
            </a:r>
            <a:r>
              <a:rPr lang="en-US" sz="1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GENAI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development, 2024 [HCL]</a:t>
            </a:r>
            <a:endParaRPr lang="en-US" sz="1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Telstra Python (</a:t>
            </a:r>
            <a:r>
              <a:rPr lang="en-US" sz="1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Pandas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) </a:t>
            </a:r>
            <a:r>
              <a:rPr lang="en-US" sz="1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Serverless Data analytics Microservice development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2023-2024 [HCL]</a:t>
            </a:r>
            <a:endParaRPr lang="en-US" sz="1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Cisco Project Timeline Management, </a:t>
            </a:r>
            <a:r>
              <a:rPr lang="en-IN" alt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Redhat Openshift multi cloud management, 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Node.js</a:t>
            </a:r>
            <a:r>
              <a:rPr lang="en-IN" alt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React.js, 2022 – 2023 [HCL]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Mitel </a:t>
            </a:r>
            <a:r>
              <a:rPr lang="en-US" sz="12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Cloudlink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SDK, Node.js, 2021-2022 [HCL]</a:t>
            </a:r>
            <a:endParaRPr lang="en-US" sz="1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PGI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Globalmeet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Node.js and React JS, 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Browser Apps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Chrome/Firefox, 2021 [HCL]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Mitel Premium Attendant, NextGen and </a:t>
            </a:r>
            <a:r>
              <a:rPr lang="en-US" sz="12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MiShare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application, Electron JS, Node.js, Angular, </a:t>
            </a:r>
            <a:r>
              <a:rPr lang="en-US" sz="1200" b="1" dirty="0" err="1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F</a:t>
            </a:r>
            <a:r>
              <a:rPr lang="en-US" sz="1200" b="1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ullstack</a:t>
            </a:r>
            <a:r>
              <a:rPr lang="en-US" sz="1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application and Desktop applications 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Mac OS/Windows, Technical Lead, 2016-2021 [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HCL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]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Tokbox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Hybrid Application development for iOS/Android 8/Blackberry, 2016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[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HCL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]</a:t>
            </a:r>
            <a:endParaRPr lang="en-US" sz="1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Expedia, Angular IONIC and Cordova 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Hybrid Application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Development iOS/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Androd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2015-2016, [Refine Interactive]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PHP Magento/Joomla/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Wordpress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/Angular/Node.js/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Jquery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Mobile development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domestic India Clients, 2011-2015, [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Brennstoff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Marcom and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Winsoft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Solutions]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28215" y="655410"/>
            <a:ext cx="2319602" cy="5970420"/>
            <a:chOff x="68980" y="1295400"/>
            <a:chExt cx="2319602" cy="4924230"/>
          </a:xfrm>
        </p:grpSpPr>
        <p:sp>
          <p:nvSpPr>
            <p:cNvPr id="26" name="Rectangle 25"/>
            <p:cNvSpPr/>
            <p:nvPr/>
          </p:nvSpPr>
          <p:spPr bwMode="auto">
            <a:xfrm>
              <a:off x="202574" y="1295400"/>
              <a:ext cx="2177095" cy="4924230"/>
            </a:xfrm>
            <a:prstGeom prst="rect">
              <a:avLst/>
            </a:prstGeom>
            <a:solidFill>
              <a:srgbClr val="2E5C8A"/>
            </a:solidFill>
            <a:ln w="3175" cap="flat" cmpd="sng" algn="ctr">
              <a:noFill/>
              <a:prstDash val="solid"/>
              <a:miter lim="800000"/>
              <a:headEnd type="none" w="sm" len="sm"/>
              <a:tailEnd type="triangle" w="med" len="med"/>
            </a:ln>
            <a:effectLst/>
          </p:spPr>
          <p:txBody>
            <a:bodyPr vert="horz" wrap="none" lIns="91440" tIns="45720" rIns="91440" bIns="45720" numCol="1" rtlCol="0" anchor="t" anchorCtr="0" compatLnSpc="1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68980" y="3297045"/>
              <a:ext cx="2319602" cy="626708"/>
              <a:chOff x="68980" y="3297045"/>
              <a:chExt cx="2319602" cy="626708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68980" y="3297045"/>
                <a:ext cx="2319602" cy="2792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sz="1600" b="1" dirty="0">
                    <a:solidFill>
                      <a:srgbClr val="FFFFFF"/>
                    </a:solidFill>
                    <a:latin typeface="Calibri" panose="020F0502020204030204" pitchFamily="34" charset="0"/>
                    <a:ea typeface="Times New Roman" panose="02020603050405020304" pitchFamily="18" charset="0"/>
                    <a:cs typeface="Calibri" panose="020F0502020204030204" pitchFamily="34" charset="0"/>
                  </a:rPr>
                  <a:t>Ranjan Sharma </a:t>
                </a:r>
                <a:endParaRPr lang="en-US" sz="1600" b="1" dirty="0">
                  <a:solidFill>
                    <a:srgbClr val="FFFFFF"/>
                  </a:solidFill>
                  <a:latin typeface="Calibri" panose="020F0502020204030204" pitchFamily="34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48" name="Straight Connector 47"/>
              <p:cNvCxnSpPr/>
              <p:nvPr/>
            </p:nvCxnSpPr>
            <p:spPr bwMode="auto">
              <a:xfrm>
                <a:off x="423367" y="3922165"/>
                <a:ext cx="1735138" cy="1588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bg1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balanced" dir="t">
                  <a:rot lat="0" lon="0" rev="8700000"/>
                </a:lightRig>
              </a:scene3d>
              <a:sp3d>
                <a:bevelT w="190500" h="38100"/>
              </a:sp3d>
            </p:spPr>
          </p:cxnSp>
        </p:grpSp>
        <p:grpSp>
          <p:nvGrpSpPr>
            <p:cNvPr id="9" name="Group 8"/>
            <p:cNvGrpSpPr/>
            <p:nvPr/>
          </p:nvGrpSpPr>
          <p:grpSpPr>
            <a:xfrm>
              <a:off x="210863" y="4729388"/>
              <a:ext cx="2168806" cy="734474"/>
              <a:chOff x="210864" y="5594276"/>
              <a:chExt cx="2168806" cy="734474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210864" y="5947982"/>
                <a:ext cx="2168806" cy="3807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Times New Roman" panose="02020603050405020304" pitchFamily="18" charset="0"/>
                    <a:cs typeface="Calibri" panose="020F0502020204030204" pitchFamily="34" charset="0"/>
                  </a:rPr>
                  <a:t>Track</a:t>
                </a: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D44B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cxnSp>
            <p:nvCxnSpPr>
              <p:cNvPr id="53" name="Straight Connector 52"/>
              <p:cNvCxnSpPr/>
              <p:nvPr/>
            </p:nvCxnSpPr>
            <p:spPr bwMode="auto">
              <a:xfrm>
                <a:off x="423368" y="5594276"/>
                <a:ext cx="1735138" cy="1588"/>
              </a:xfrm>
              <a:prstGeom prst="line">
                <a:avLst/>
              </a:prstGeom>
              <a:solidFill>
                <a:schemeClr val="accent1"/>
              </a:solidFill>
              <a:ln w="3175" cap="flat" cmpd="sng" algn="ctr">
                <a:solidFill>
                  <a:schemeClr val="bg1"/>
                </a:solidFill>
                <a:prstDash val="sysDot"/>
                <a:miter lim="800000"/>
                <a:headEnd type="none" w="med" len="med"/>
                <a:tailEnd type="none" w="med" len="med"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</p:cxnSp>
        </p:grpSp>
        <p:grpSp>
          <p:nvGrpSpPr>
            <p:cNvPr id="8" name="Group 7"/>
            <p:cNvGrpSpPr/>
            <p:nvPr/>
          </p:nvGrpSpPr>
          <p:grpSpPr>
            <a:xfrm>
              <a:off x="251169" y="3806682"/>
              <a:ext cx="2079534" cy="1148088"/>
              <a:chOff x="251170" y="4527124"/>
              <a:chExt cx="2079534" cy="1148088"/>
            </a:xfrm>
          </p:grpSpPr>
          <p:cxnSp>
            <p:nvCxnSpPr>
              <p:cNvPr id="52" name="Straight Connector 51"/>
              <p:cNvCxnSpPr/>
              <p:nvPr/>
            </p:nvCxnSpPr>
            <p:spPr bwMode="auto">
              <a:xfrm>
                <a:off x="480515" y="4527124"/>
                <a:ext cx="1735138" cy="1588"/>
              </a:xfrm>
              <a:prstGeom prst="line">
                <a:avLst/>
              </a:prstGeom>
              <a:solidFill>
                <a:schemeClr val="accent1"/>
              </a:solidFill>
              <a:ln w="3175" cap="flat" cmpd="sng" algn="ctr">
                <a:solidFill>
                  <a:schemeClr val="bg1"/>
                </a:solidFill>
                <a:prstDash val="sysDot"/>
                <a:miter lim="800000"/>
                <a:headEnd type="none" w="med" len="med"/>
                <a:tailEnd type="none" w="med" len="med"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</p:cxnSp>
          <p:sp>
            <p:nvSpPr>
              <p:cNvPr id="27" name="Rectangle 26"/>
              <p:cNvSpPr/>
              <p:nvPr/>
            </p:nvSpPr>
            <p:spPr>
              <a:xfrm>
                <a:off x="251170" y="5294444"/>
                <a:ext cx="2079534" cy="3807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Times New Roman" panose="02020603050405020304" pitchFamily="18" charset="0"/>
                    <a:cs typeface="Calibri" panose="020F0502020204030204" pitchFamily="34" charset="0"/>
                  </a:rPr>
                  <a:t>Proposed Role</a:t>
                </a: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sz="1200" b="1">
                    <a:solidFill>
                      <a:srgbClr val="FFD44B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Technical Specialist</a:t>
                </a: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D44B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1" name="Group 30"/>
            <p:cNvGrpSpPr/>
            <p:nvPr/>
          </p:nvGrpSpPr>
          <p:grpSpPr>
            <a:xfrm>
              <a:off x="210863" y="5543007"/>
              <a:ext cx="2168806" cy="602588"/>
              <a:chOff x="210864" y="5836902"/>
              <a:chExt cx="2168806" cy="602588"/>
            </a:xfrm>
          </p:grpSpPr>
          <p:sp>
            <p:nvSpPr>
              <p:cNvPr id="32" name="Rectangle 31"/>
              <p:cNvSpPr/>
              <p:nvPr/>
            </p:nvSpPr>
            <p:spPr>
              <a:xfrm>
                <a:off x="210864" y="5906415"/>
                <a:ext cx="2168806" cy="5330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Times New Roman" panose="02020603050405020304" pitchFamily="18" charset="0"/>
                    <a:cs typeface="Calibri" panose="020F0502020204030204" pitchFamily="34" charset="0"/>
                  </a:rPr>
                  <a:t>Domain</a:t>
                </a: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sz="1200" b="1" dirty="0">
                    <a:solidFill>
                      <a:srgbClr val="FFD44B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Software Engineering Technology</a:t>
                </a: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D44B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cxnSp>
            <p:nvCxnSpPr>
              <p:cNvPr id="35" name="Straight Connector 34"/>
              <p:cNvCxnSpPr/>
              <p:nvPr/>
            </p:nvCxnSpPr>
            <p:spPr bwMode="auto">
              <a:xfrm>
                <a:off x="423368" y="5836902"/>
                <a:ext cx="1735138" cy="1588"/>
              </a:xfrm>
              <a:prstGeom prst="line">
                <a:avLst/>
              </a:prstGeom>
              <a:solidFill>
                <a:schemeClr val="accent1"/>
              </a:solidFill>
              <a:ln w="3175" cap="flat" cmpd="sng" algn="ctr">
                <a:solidFill>
                  <a:schemeClr val="bg1"/>
                </a:solidFill>
                <a:prstDash val="sysDot"/>
                <a:miter lim="800000"/>
                <a:headEnd type="none" w="med" len="med"/>
                <a:tailEnd type="none" w="med" len="med"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</p:cxnSp>
        </p:grpSp>
        <p:grpSp>
          <p:nvGrpSpPr>
            <p:cNvPr id="36" name="Group 35"/>
            <p:cNvGrpSpPr/>
            <p:nvPr/>
          </p:nvGrpSpPr>
          <p:grpSpPr>
            <a:xfrm>
              <a:off x="251169" y="5612520"/>
              <a:ext cx="2079534" cy="276999"/>
              <a:chOff x="251170" y="5349278"/>
              <a:chExt cx="2079534" cy="276999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51170" y="5349278"/>
                <a:ext cx="2079534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38" name="Straight Connector 37"/>
              <p:cNvCxnSpPr/>
              <p:nvPr/>
            </p:nvCxnSpPr>
            <p:spPr bwMode="auto">
              <a:xfrm>
                <a:off x="423368" y="5552710"/>
                <a:ext cx="1735138" cy="1588"/>
              </a:xfrm>
              <a:prstGeom prst="line">
                <a:avLst/>
              </a:prstGeom>
              <a:solidFill>
                <a:schemeClr val="accent1"/>
              </a:solidFill>
              <a:ln w="3175" cap="flat" cmpd="sng" algn="ctr">
                <a:solidFill>
                  <a:schemeClr val="bg1"/>
                </a:solidFill>
                <a:prstDash val="sysDot"/>
                <a:miter lim="800000"/>
                <a:headEnd type="none" w="med" len="med"/>
                <a:tailEnd type="none" w="med" len="med"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</p:cxnSp>
        </p:grpSp>
      </p:grpSp>
      <p:sp>
        <p:nvSpPr>
          <p:cNvPr id="50" name="TextBox 49"/>
          <p:cNvSpPr txBox="1"/>
          <p:nvPr/>
        </p:nvSpPr>
        <p:spPr>
          <a:xfrm>
            <a:off x="379335" y="4058639"/>
            <a:ext cx="190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Location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sz="1600" b="1" dirty="0">
                <a:solidFill>
                  <a:srgbClr val="FFD44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Noida,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D4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India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D4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210404" y="496502"/>
            <a:ext cx="1149126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person in a suit&#10;&#10;Description automatically generated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8871" b="99194" l="5618" r="96629">
                        <a14:foregroundMark x1="5618" y1="95968" x2="5618" y2="95968"/>
                        <a14:foregroundMark x1="85393" y1="74194" x2="85393" y2="74194"/>
                        <a14:foregroundMark x1="64045" y1="83871" x2="64045" y2="83871"/>
                        <a14:foregroundMark x1="60674" y1="95968" x2="60674" y2="95968"/>
                        <a14:foregroundMark x1="16854" y1="95161" x2="16854" y2="95161"/>
                        <a14:foregroundMark x1="6742" y1="83065" x2="6742" y2="83065"/>
                        <a14:foregroundMark x1="6742" y1="83065" x2="6742" y2="83065"/>
                        <a14:foregroundMark x1="6742" y1="83065" x2="6742" y2="83065"/>
                        <a14:foregroundMark x1="87640" y1="96774" x2="87640" y2="96774"/>
                        <a14:foregroundMark x1="87640" y1="96774" x2="87640" y2="96774"/>
                        <a14:foregroundMark x1="87640" y1="96774" x2="87640" y2="96774"/>
                        <a14:foregroundMark x1="87640" y1="96774" x2="87640" y2="96774"/>
                        <a14:foregroundMark x1="87640" y1="96774" x2="87640" y2="96774"/>
                        <a14:foregroundMark x1="92135" y1="83065" x2="92135" y2="83065"/>
                        <a14:foregroundMark x1="92135" y1="83065" x2="92135" y2="83065"/>
                        <a14:foregroundMark x1="92135" y1="83065" x2="92135" y2="83065"/>
                        <a14:foregroundMark x1="92135" y1="83065" x2="92135" y2="83065"/>
                        <a14:foregroundMark x1="71910" y1="64516" x2="96629" y2="99194"/>
                        <a14:foregroundMark x1="96629" y1="99194" x2="48315" y2="92742"/>
                        <a14:foregroundMark x1="24235" y1="80034" x2="14291" y2="74786"/>
                        <a14:foregroundMark x1="48315" y1="92742" x2="26486" y2="81222"/>
                        <a14:backgroundMark x1="92135" y1="8065" x2="92135" y2="8065"/>
                        <a14:backgroundMark x1="20225" y1="64516" x2="20225" y2="64516"/>
                        <a14:backgroundMark x1="23596" y1="62903" x2="8989" y2="64516"/>
                        <a14:backgroundMark x1="24719" y1="58065" x2="13483" y2="62097"/>
                        <a14:backgroundMark x1="13483" y1="62097" x2="25843" y2="5887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191" y="915880"/>
            <a:ext cx="1373709" cy="191393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2919</Words>
  <Application>WPS Presentation</Application>
  <PresentationFormat>Widescreen</PresentationFormat>
  <Paragraphs>50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Calibri</vt:lpstr>
      <vt:lpstr>Times New Roman</vt:lpstr>
      <vt:lpstr>Calibri Light</vt:lpstr>
      <vt:lpstr>Microsoft YaHei</vt:lpstr>
      <vt:lpstr>Arial Unicode MS</vt:lpstr>
      <vt:lpstr>Office Theme</vt:lpstr>
      <vt:lpstr>Technical Specialist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Dheeraj Verma</dc:creator>
  <cp:lastModifiedBy>WPS_1740419315</cp:lastModifiedBy>
  <cp:revision>50</cp:revision>
  <dcterms:created xsi:type="dcterms:W3CDTF">2021-11-30T02:29:00Z</dcterms:created>
  <dcterms:modified xsi:type="dcterms:W3CDTF">2025-03-02T19:14:17Z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0372252d-5665-4ea6-8d17-aabf7bbd02ab</vt:lpwstr>
  </property>
  <property fmtid="{D5CDD505-2E9C-101B-9397-08002B2CF9AE}" pid="3" name="HCLClassification">
    <vt:lpwstr>HCL_Cla5s_Publ1c</vt:lpwstr>
  </property>
  <property fmtid="{D5CDD505-2E9C-101B-9397-08002B2CF9AE}" pid="4" name="HCLClassD6">
    <vt:lpwstr>False</vt:lpwstr>
  </property>
  <property fmtid="{D5CDD505-2E9C-101B-9397-08002B2CF9AE}" pid="5" name="ICV">
    <vt:lpwstr>B1E9FE1F67A54A8CB1CF98524B03965E_12</vt:lpwstr>
  </property>
  <property fmtid="{D5CDD505-2E9C-101B-9397-08002B2CF9AE}" pid="6" name="KSOProductBuildVer">
    <vt:lpwstr>1033-12.2.0.20323</vt:lpwstr>
  </property>
</Properties>
</file>